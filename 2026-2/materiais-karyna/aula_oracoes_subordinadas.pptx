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0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09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840480"/>
            <a:ext cx="3840480" cy="3840480"/>
          </a:xfrm>
          <a:prstGeom prst="ellipse">
            <a:avLst/>
          </a:prstGeom>
          <a:solidFill>
            <a:srgbClr val="232C7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LÍNGUA PORTUGUESA · 3º ANO · ESCRITA ACADÊMICA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arquitetura da frase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período simples à escrita acadêmica: </a:t>
            </a:r>
            <a:r>
              <a:rPr lang="en-US" sz="2000" b="1" i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orações subordinadas</a:t>
            </a: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serviço do projeto integrador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5349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50 minutos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frases, a mesma ideia. Qual convence mais?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356616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SIMPLES, SOLTOS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adolescentes usam redes sociais. Eles passam muitas horas online. Isso afeta o sono deles. A concentração também diminui.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ideias soltas, sem relação explícita entre elas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24728" y="1783080"/>
            <a:ext cx="5074920" cy="3566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824728" y="20116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COMPOSTO POR SUBORDINAÇÃO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9048" y="256032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passam muitas horas conectados às redes sociais, os adolescentes têm o sono e a concentração prejudicados, </a:t>
            </a:r>
            <a:r>
              <a:rPr lang="en-US" sz="17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compromete seu desempenho escolar.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9048" y="48006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ideia só, com causa e consequência amarradas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construir juntos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762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</a:t>
            </a:r>
            <a:r>
              <a:rPr lang="en-US" sz="18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simples de período composto — e composto por coordenação de composto por subordinação.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66744"/>
            <a:ext cx="731520" cy="7315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6674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3410712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</a:t>
            </a:r>
            <a:r>
              <a:rPr lang="en-US" sz="18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orações subordinadas e o tipo de relação lógica que elas criam entre as ideias.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15721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1572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4901184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</a:t>
            </a:r>
            <a:r>
              <a:rPr lang="en-US" sz="18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estruturas na escrita do projeto integrador, com mais precisão e coesão.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TUDO, RECAPITULANDO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Oração e período não são a mesma coisa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40280"/>
            <a:ext cx="5074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organizado em torno de um verbo (ou locução verbal).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931920"/>
            <a:ext cx="443484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9319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</a:t>
            </a: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grupo pesquisou o tema."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824728" y="1965960"/>
            <a:ext cx="5074920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824728" y="2240280"/>
            <a:ext cx="5074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44768" y="278892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construída por uma ou mais orações, encerrada por ponto final, de interrogação ou exclamação.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44768" y="3931920"/>
            <a:ext cx="4434840" cy="960120"/>
          </a:xfrm>
          <a:prstGeom prst="rect">
            <a:avLst/>
          </a:prstGeom>
          <a:solidFill>
            <a:srgbClr val="141C52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39319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ter </a:t>
            </a:r>
            <a:r>
              <a:rPr lang="en-US" sz="15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 várias</a:t>
            </a: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orações dentro dele.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simples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apenas UMA oração — ou seja, um único verbo (ou locução verbal) organizando a frase.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881360" cy="173736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grupo </a:t>
            </a:r>
            <a:r>
              <a:rPr lang="en-US" sz="2400" b="1" u="sng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apresentou</a:t>
            </a:r>
            <a:r>
              <a:rPr lang="en-US" sz="24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projeto na feira de ciências."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verbo → 1 oração → período simples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 de oração absoluta: sozinho, esse período já é a própria oração.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composto: duas ou mais orações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661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84832"/>
            <a:ext cx="5074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COORDENAÇÃO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orações são independentes entre si — cada uma teria sentido completo sozinha.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443484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70332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grupo pesquisou o tema </a:t>
            </a:r>
            <a:r>
              <a:rPr lang="en-US" sz="15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5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elaborou o relatório."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51560" y="44805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mas, ou, portanto, logo...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24728" y="1828800"/>
            <a:ext cx="5074920" cy="3566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824728" y="2084832"/>
            <a:ext cx="5074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SUBORDINAÇÃO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44768" y="25603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oração depende sintaticamente da outra — é o nosso foco de hoje.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44768" y="3566160"/>
            <a:ext cx="4434840" cy="1463040"/>
          </a:xfrm>
          <a:prstGeom prst="rect">
            <a:avLst/>
          </a:prstGeom>
          <a:solidFill>
            <a:srgbClr val="141C52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370332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grupo elaborou o relatório </a:t>
            </a:r>
            <a:r>
              <a:rPr lang="en-US" sz="15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pesquisa revelou dados relevantes."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27648" y="44805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porque, embora, se, quando...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A DEPENDÊNCIA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e subordinada: quem serve a quem?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2062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 PRINCIPAL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o núcleo da informação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788920"/>
            <a:ext cx="17373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892040" y="28803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2103120"/>
            <a:ext cx="4206240" cy="1371600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28600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 SUBORDINADA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26974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 uma função sintática na/para a principal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10424160" cy="141732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1605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"É importante </a:t>
            </a: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os grupos revisem as fontes</a:t>
            </a:r>
            <a:r>
              <a:rPr lang="en-US" sz="20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48006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em destaque não tem sentido completo sozinha: ela só funciona presa à oração principal.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grandes famílias de subordinadas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379476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SUBSTANTIVAS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o papel de substantivo (sujeito, objeto...).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30175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3721608"/>
            <a:ext cx="2706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"É importante que os grupos revisem as fontes."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4663440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(sujeito da oração principal)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783080"/>
            <a:ext cx="3474720" cy="379476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ADJETIVAS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53128" y="2560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o papel de adjetivo; iniciadas por quem/que/o qual.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53128" y="3611880"/>
            <a:ext cx="30175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3721608"/>
            <a:ext cx="2706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fontes que consultamos são confiáveis."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08576" y="4663440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(caracteriza "fontes")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00416" y="1783080"/>
            <a:ext cx="3474720" cy="3794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29016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ADVERBIAIS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9016" y="2560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o papel de advérbio; indicam circunstância.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9016" y="3611880"/>
            <a:ext cx="3017520" cy="1463040"/>
          </a:xfrm>
          <a:prstGeom prst="rect">
            <a:avLst/>
          </a:prstGeom>
          <a:solidFill>
            <a:srgbClr val="141C52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3721608"/>
            <a:ext cx="2706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"Embora o prazo fosse curto, o grupo entregou o projeto."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84464" y="4663440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(nosso foco de hoje →)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FERRAMENTAS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Conectivos adverbiais, por relação lógica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0" cy="56692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16916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· já que · uma vez que · visto que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0515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58568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585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2585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· caso · contanto que · a menos que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10515600" cy="56692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25496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254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282549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embora · ainda que · mesmo que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0515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92424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924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339242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· a fim de que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10515600" cy="56692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59352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593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39593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modo que · de forma que · tanto que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0515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52628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26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66160" y="45262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· enquanto · assim que · à medida que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10515600" cy="56692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093208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0932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66160" y="509320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· assim como · tal qual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COLOCANDO EM 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argumento, duas versões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365760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5074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FRAGMENTADA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434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descarte incorreto de lixo eletrônico contamina o solo. Ele também contamina a água. Isso ocorre em muitas cidades brasileiras. As pessoas não sabem descartar corretamente.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824728" y="1783080"/>
            <a:ext cx="5074920" cy="3657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824728" y="2011680"/>
            <a:ext cx="5074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ACADÊMICA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48" y="2560320"/>
            <a:ext cx="4526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 que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grande parte da população desconhece a forma correta de descarte, o lixo eletrônico tem contaminado o solo e a água de diversas cidades brasileiras, </a:t>
            </a:r>
            <a:r>
              <a:rPr lang="en-US" sz="15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evidencia a urgência de campanhas de conscientização.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frases soltas → 1 período só, com causa e consequência explícitas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PORQUÊ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escrita acadêmica pede subordinação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424160" cy="137160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274320" cy="2743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933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Clareza lógica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2450592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 a relação entre as ideias — causa, condição, concessão — em vez de deixá-las soltas.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424160" cy="137160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703320"/>
            <a:ext cx="274320" cy="2743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593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Coesão textual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4050792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repetição e deixa o texto mais fluido, encadeando ideias em vez de justapô-las.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0424160" cy="137160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5303520"/>
            <a:ext cx="274320" cy="2743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51937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Densidade argumentativa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5650992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domínio do tema: quem argumenta bem relaciona causas, efeitos e ressalvas.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AO PONTO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projeto integrador de vocês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93268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2834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783080"/>
            <a:ext cx="3108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e finalidade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03720" y="1783080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"Visto que... / a fim de que..."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088136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07208"/>
            <a:ext cx="2834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807208"/>
            <a:ext cx="3108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concessão e comparação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2807208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"Embora [autor] afirme... / assim como..."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0881360" cy="93268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31336"/>
            <a:ext cx="2834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831336"/>
            <a:ext cx="3108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 condição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3831336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"À medida que... / caso..."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088136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55464"/>
            <a:ext cx="2834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4855464"/>
            <a:ext cx="3108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4855464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"..., de modo que os resultados indicam..."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FECHAR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frase bem construída argumenta por você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395728"/>
            <a:ext cx="146304" cy="146304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7627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simples = 1 oração. Composto = 2 ou mais, por coordenação ou subordinação.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77240" y="3264408"/>
            <a:ext cx="146304" cy="146304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4495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oração subordinada depende da principal e expressa causa, condição, concessão, tempo, finalidade ou consequência.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4133088"/>
            <a:ext cx="146304" cy="146304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136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escrita acadêmica, subordinar ideias é o que transforma uma lista de fatos em um argumento.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1520" y="5349240"/>
            <a:ext cx="10058400" cy="960120"/>
          </a:xfrm>
          <a:prstGeom prst="rect">
            <a:avLst/>
          </a:prstGeom>
          <a:solidFill>
            <a:srgbClr val="141C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349240"/>
            <a:ext cx="9509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a vez de vocês: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atividade impressa, vamos transformar frases do próprio projeto integrador de cada grupo.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943</Words>
  <Application>Microsoft Office PowerPoint</Application>
  <PresentationFormat>Widescreen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Karyna</cp:lastModifiedBy>
  <cp:revision>1</cp:revision>
  <dcterms:created xsi:type="dcterms:W3CDTF">2026-08-25T16:58:43Z</dcterms:created>
  <dcterms:modified xsi:type="dcterms:W3CDTF">2026-08-25T17:07:39Z</dcterms:modified>
</cp:coreProperties>
</file>